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22"/>
  </p:normalViewPr>
  <p:slideViewPr>
    <p:cSldViewPr snapToGrid="0">
      <p:cViewPr>
        <p:scale>
          <a:sx n="91" d="100"/>
          <a:sy n="91" d="100"/>
        </p:scale>
        <p:origin x="156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B9CB9-1FA8-1848-B431-E9137D9328CC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98327-8D4C-7740-B0E9-9CA5636A55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26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98327-8D4C-7740-B0E9-9CA5636A55F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280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3C0979-EB39-2ADD-0A61-0786F0998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9230CB-449F-D4BE-F3D1-5A0AA30FC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EA032E-BEB8-603A-E579-EB772423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0561FF-9CFA-8DBD-8D31-CFD7F9BE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D95CB4-8FBA-285E-D1C7-BC45F645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886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D54C00-F34D-D3C9-9D76-8F50D897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779DF7-2A20-90DD-C6D7-65984E388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91B48F-6F1C-98D3-0B74-63394B67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EEBCAC-73D7-C077-30BF-CF4913E4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6A1CFC-EB2A-72D0-4527-BD6F3D8C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07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487419-8B68-03F2-2BC8-A1B012824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4A9EA6-FA4B-67D4-311E-A56EA13D3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CADE6F-A613-4056-5FE7-AA576A41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029AFB-04A0-EBD0-110B-5D26D772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F12D7D-44B8-69A8-F1BA-A4582BE0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893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CF7C49-22C6-6212-0C77-EA64AA3F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FEB8BF-1B61-C7E0-75AF-D5B5FCB65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76D0FE-0D5D-0E63-635C-A3820F9FA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93D4E6-308F-C6C7-5519-AA6DC9D4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9C3DF42-6E14-7E67-AF69-82601750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B0A75A7-A06B-45EA-04A5-E59D22A6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63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273522-F410-7D10-E687-156C25E9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018C81-27A2-1986-E873-9D8E6E00F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4513FB5-69D2-5B22-31CD-94890C565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011496-937B-CC99-0970-0EE3D8F62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C2B6357-8D43-6C5D-9B4C-4EBE371D0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544C040-2ACB-CC32-766F-B7352606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C0C81A2-6367-6669-53C8-929ABCBF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88CB66D-F7FE-DEC5-C76D-93F2FD30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877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C1C76D-910E-6C3E-B3BB-EB18AFFB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E7906C-BB8B-CB78-C723-CD6AEB6B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5AB5A1-21D9-DE04-1A3E-D4C32B34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60A72A4-5A2D-8F5F-E09E-19432422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29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3026238-58AA-F1C3-A50F-79943793D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C90E0B0-1BC6-CAC0-74EC-9B45BFE80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21948D-6ABE-17BA-5E0F-C3DD7427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96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3D035A-ADD0-D577-6769-2AF7BE00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FC0FCB-BAE7-710E-02A7-744A63D26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F791D4-B347-A588-A82F-E655BE4DB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807E9B2-092D-464D-A922-C53A2176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D718E63-4E5D-C0F4-305D-4B74C46C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334103-38EC-296B-8FAC-191374D3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61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C992D-A1FA-0994-B688-E3EA5215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61E3279-62A7-2299-0835-532ED0302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7F63ABB-252C-58EB-B064-52B17C4D2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B03074-5C5D-2597-1432-B0AA6E43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717E66-F35E-4E64-5F89-0B86DB33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247156-BB34-16C8-BE9A-176D5023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439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F28AEA-A508-BF03-F5D0-2BB06DD8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A867E9-DBC1-2FD0-1E47-5C9DEB791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05523D-2F59-37A9-B152-5EA41C13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B64AE1-12F9-E09B-421C-18240EFA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F50A69-BDA2-569D-4A9A-7045F0B6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74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20E4D47-FBE0-DD52-CBC0-29AE78188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83A303-9B26-4348-DB1D-6DD9716AF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B518C5-F436-C016-A076-8736495D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BD5715-CB39-B9C3-2B5B-3C167ABA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6FA042-23BA-CE9C-E4B3-E0AD81D9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470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9777F6C-508A-3701-BC65-B9E63D3A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F711A1-94F1-6AFF-0B28-B36EDD7A1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599BA6-6E26-520E-35AE-C4006F0EC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75453-A70D-9345-B6FE-2BF534C0944B}" type="datetimeFigureOut">
              <a:rPr lang="it-IT" smtClean="0"/>
              <a:t>07/10/25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D9DE99-B82D-3BFF-BA93-FB0C2EA8A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CCCF78-EA5F-2917-0B62-0FFAF061A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B9E11-8A5F-4E4F-8EAB-B7A9EF7540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92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09D2BB-F1AB-3DBD-44E1-1DB992563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4113" y="2307771"/>
            <a:ext cx="9998529" cy="4420734"/>
          </a:xfrm>
        </p:spPr>
        <p:txBody>
          <a:bodyPr>
            <a:noAutofit/>
          </a:bodyPr>
          <a:lstStyle/>
          <a:p>
            <a:pPr algn="r"/>
            <a:r>
              <a:rPr lang="it-IT" sz="4800" b="1" i="1" dirty="0">
                <a:latin typeface="Aptos Black" panose="020B0004020202020204" pitchFamily="34" charset="0"/>
                <a:cs typeface="Aharoni" panose="02010803020104030203" pitchFamily="2" charset="-79"/>
              </a:rPr>
              <a:t>FRANCESCO SEBASTIANO MEMMOLA</a:t>
            </a:r>
            <a:br>
              <a:rPr lang="it-IT" sz="4800" b="1" i="1" dirty="0">
                <a:latin typeface="Aptos Black" panose="020B0004020202020204" pitchFamily="34" charset="0"/>
                <a:cs typeface="Aharoni" panose="02010803020104030203" pitchFamily="2" charset="-79"/>
              </a:rPr>
            </a:br>
            <a:br>
              <a:rPr lang="it-IT" sz="48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it-IT" sz="5400" b="1" u="none" strike="noStrike" dirty="0">
                <a:solidFill>
                  <a:srgbClr val="000000"/>
                </a:solidFill>
                <a:effectLst/>
                <a:latin typeface="Aptos ExtraBold" panose="020B0004020202020204" pitchFamily="34" charset="0"/>
                <a:ea typeface="Apple Symbols" panose="02000000000000000000" pitchFamily="2" charset="-79"/>
                <a:cs typeface="Apple Symbols" panose="02000000000000000000" pitchFamily="2" charset="-79"/>
              </a:rPr>
              <a:t>50893A</a:t>
            </a:r>
            <a:endParaRPr lang="it-IT" sz="4800" b="1" dirty="0">
              <a:latin typeface="Aptos ExtraBold" panose="020B0004020202020204" pitchFamily="34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7162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0B0AC-0361-CF17-EA28-7E186A60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Variables</a:t>
            </a:r>
            <a:r>
              <a:rPr lang="it-IT" dirty="0"/>
              <a:t> </a:t>
            </a:r>
            <a:r>
              <a:rPr lang="it-IT" dirty="0" err="1"/>
              <a:t>descriptions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7B36B16-9BDD-D7CB-2341-BEAD325F5CA3}"/>
              </a:ext>
            </a:extLst>
          </p:cNvPr>
          <p:cNvSpPr txBox="1"/>
          <p:nvPr/>
        </p:nvSpPr>
        <p:spPr>
          <a:xfrm>
            <a:off x="250372" y="2838270"/>
            <a:ext cx="119416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0" i="0" dirty="0">
                <a:effectLst/>
                <a:latin typeface="Menlo" panose="020B0609030804020204" pitchFamily="49" charset="0"/>
              </a:rPr>
              <a:t>NA000334Q 			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Quarterly</a:t>
            </a:r>
            <a:r>
              <a:rPr lang="it-IT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U.S.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b="0" i="0" dirty="0" err="1">
                <a:effectLst/>
                <a:latin typeface="Menlo" panose="020B0609030804020204" pitchFamily="49" charset="0"/>
              </a:rPr>
              <a:t>nominal</a:t>
            </a:r>
            <a:r>
              <a:rPr lang="it-IT" b="0" i="0" dirty="0">
                <a:effectLst/>
                <a:latin typeface="Menlo" panose="020B0609030804020204" pitchFamily="49" charset="0"/>
              </a:rPr>
              <a:t> GDP</a:t>
            </a:r>
            <a:endParaRPr lang="it-IT" sz="2400" b="0" i="0" dirty="0">
              <a:effectLst/>
              <a:latin typeface="Menlo" panose="020B0609030804020204" pitchFamily="49" charset="0"/>
            </a:endParaRPr>
          </a:p>
          <a:p>
            <a:endParaRPr lang="it-IT" sz="2400" b="0" i="0" dirty="0">
              <a:effectLst/>
              <a:latin typeface="Menlo" panose="020B0609030804020204" pitchFamily="49" charset="0"/>
            </a:endParaRPr>
          </a:p>
          <a:p>
            <a:r>
              <a:rPr lang="it-IT" sz="2400" b="0" i="0" dirty="0">
                <a:effectLst/>
                <a:latin typeface="Menlo" panose="020B0609030804020204" pitchFamily="49" charset="0"/>
              </a:rPr>
              <a:t>GDPDEF GDP 			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Quarterly</a:t>
            </a:r>
            <a:r>
              <a:rPr lang="it-IT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GDP price index (2017=100)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it-IT" b="0" i="0" dirty="0" err="1">
                <a:effectLst/>
                <a:latin typeface="Menlo" panose="020B0609030804020204" pitchFamily="49" charset="0"/>
              </a:rPr>
              <a:t>deflator</a:t>
            </a:r>
            <a:r>
              <a:rPr lang="it-IT" b="0" i="0" dirty="0">
                <a:effectLst/>
                <a:latin typeface="Menlo" panose="020B0609030804020204" pitchFamily="49" charset="0"/>
              </a:rPr>
              <a:t> (base = 100)</a:t>
            </a:r>
            <a:endParaRPr lang="it-IT" sz="2400" b="0" i="0" dirty="0">
              <a:effectLst/>
              <a:latin typeface="Menlo" panose="020B0609030804020204" pitchFamily="49" charset="0"/>
            </a:endParaRPr>
          </a:p>
          <a:p>
            <a:endParaRPr lang="it-IT" sz="2400" b="0" i="0" dirty="0">
              <a:effectLst/>
              <a:latin typeface="Menlo" panose="020B0609030804020204" pitchFamily="49" charset="0"/>
            </a:endParaRPr>
          </a:p>
          <a:p>
            <a:r>
              <a:rPr lang="it-IT" sz="2400" b="0" i="0" dirty="0">
                <a:effectLst/>
                <a:latin typeface="Menlo" panose="020B0609030804020204" pitchFamily="49" charset="0"/>
              </a:rPr>
              <a:t>B230RC0Q173SBEA 		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Quarterly</a:t>
            </a:r>
            <a:r>
              <a:rPr lang="it-IT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U.S</a:t>
            </a:r>
            <a:r>
              <a:rPr lang="it-IT" dirty="0">
                <a:solidFill>
                  <a:srgbClr val="000000"/>
                </a:solidFill>
                <a:latin typeface="Helvetica" pitchFamily="2" charset="0"/>
              </a:rPr>
              <a:t>. </a:t>
            </a:r>
            <a:r>
              <a:rPr lang="it-IT" b="0" i="0" dirty="0" err="1">
                <a:effectLst/>
                <a:latin typeface="Menlo" panose="020B0609030804020204" pitchFamily="49" charset="0"/>
              </a:rPr>
              <a:t>population</a:t>
            </a:r>
            <a:endParaRPr lang="it-IT" sz="2400" b="0" i="0" dirty="0">
              <a:effectLst/>
              <a:latin typeface="Menlo" panose="020B0609030804020204" pitchFamily="49" charset="0"/>
            </a:endParaRP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421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A415FCC-985D-81EB-E2E8-EA50BD12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685" y="1574985"/>
            <a:ext cx="6912430" cy="457536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D53470-3D1E-31F1-C361-79F61A9C8B5B}"/>
              </a:ext>
            </a:extLst>
          </p:cNvPr>
          <p:cNvSpPr txBox="1"/>
          <p:nvPr/>
        </p:nvSpPr>
        <p:spPr>
          <a:xfrm>
            <a:off x="740228" y="511629"/>
            <a:ext cx="50522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400" dirty="0"/>
              <a:t>Real GDP per capita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1B87283-F3D2-D54A-393E-CD78EB75DE7D}"/>
              </a:ext>
            </a:extLst>
          </p:cNvPr>
          <p:cNvSpPr txBox="1"/>
          <p:nvPr/>
        </p:nvSpPr>
        <p:spPr>
          <a:xfrm>
            <a:off x="512284" y="2551837"/>
            <a:ext cx="35045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 strong long-</a:t>
            </a:r>
            <a:r>
              <a:rPr lang="it-IT" dirty="0" err="1"/>
              <a:t>run</a:t>
            </a:r>
            <a:r>
              <a:rPr lang="it-IT" dirty="0"/>
              <a:t> uptrend (≈2.6× </a:t>
            </a:r>
            <a:r>
              <a:rPr lang="it-IT" dirty="0" err="1"/>
              <a:t>since</a:t>
            </a:r>
            <a:r>
              <a:rPr lang="it-IT" dirty="0"/>
              <a:t> 1970) with brief </a:t>
            </a:r>
            <a:r>
              <a:rPr lang="it-IT" dirty="0" err="1"/>
              <a:t>downturns</a:t>
            </a:r>
            <a:r>
              <a:rPr lang="it-IT" dirty="0"/>
              <a:t> in the early-1980s, 2008–09, and 2020, </a:t>
            </a:r>
            <a:r>
              <a:rPr lang="it-IT" dirty="0" err="1"/>
              <a:t>followed</a:t>
            </a:r>
            <a:r>
              <a:rPr lang="it-IT" dirty="0"/>
              <a:t> by rebounds to new </a:t>
            </a:r>
            <a:r>
              <a:rPr lang="it-IT" dirty="0" err="1"/>
              <a:t>highs</a:t>
            </a:r>
            <a:r>
              <a:rPr lang="it-IT" dirty="0"/>
              <a:t> by 2022 after covid.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701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81B61C-D4BB-E462-B733-613011AC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Helvetica" pitchFamily="2" charset="0"/>
              </a:rPr>
              <a:t>∆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rgdppc</a:t>
            </a:r>
            <a:r>
              <a:rPr lang="it-IT" b="0" i="0" baseline="-25000" dirty="0" err="1">
                <a:solidFill>
                  <a:srgbClr val="000000"/>
                </a:solidFill>
                <a:effectLst/>
                <a:latin typeface="Helvetica" pitchFamily="2" charset="0"/>
              </a:rPr>
              <a:t>t</a:t>
            </a:r>
            <a:br>
              <a:rPr lang="it-IT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6A98BBE-F9D0-A234-23EC-5F82A04A605A}"/>
              </a:ext>
            </a:extLst>
          </p:cNvPr>
          <p:cNvSpPr txBox="1"/>
          <p:nvPr/>
        </p:nvSpPr>
        <p:spPr>
          <a:xfrm>
            <a:off x="1819829" y="3105834"/>
            <a:ext cx="855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0" i="0" dirty="0" err="1">
                <a:effectLst/>
                <a:latin typeface="Menlo" panose="020B0609030804020204" pitchFamily="49" charset="0"/>
              </a:rPr>
              <a:t>Avg</a:t>
            </a:r>
            <a:r>
              <a:rPr lang="it-IT" b="0" i="0" dirty="0">
                <a:effectLst/>
                <a:latin typeface="Menlo" panose="020B0609030804020204" pitchFamily="49" charset="0"/>
              </a:rPr>
              <a:t> </a:t>
            </a:r>
            <a:r>
              <a:rPr lang="it-IT" b="0" i="0" dirty="0" err="1">
                <a:effectLst/>
                <a:latin typeface="Menlo" panose="020B0609030804020204" pitchFamily="49" charset="0"/>
              </a:rPr>
              <a:t>annualized</a:t>
            </a:r>
            <a:r>
              <a:rPr lang="it-IT" b="0" i="0" dirty="0">
                <a:effectLst/>
                <a:latin typeface="Menlo" panose="020B0609030804020204" pitchFamily="49" charset="0"/>
              </a:rPr>
              <a:t> per-capita </a:t>
            </a:r>
            <a:r>
              <a:rPr lang="it-IT" b="0" i="0" dirty="0" err="1">
                <a:effectLst/>
                <a:latin typeface="Menlo" panose="020B0609030804020204" pitchFamily="49" charset="0"/>
              </a:rPr>
              <a:t>real</a:t>
            </a:r>
            <a:r>
              <a:rPr lang="it-IT" b="0" i="0" dirty="0">
                <a:effectLst/>
                <a:latin typeface="Menlo" panose="020B0609030804020204" pitchFamily="49" charset="0"/>
              </a:rPr>
              <a:t> GDP </a:t>
            </a:r>
            <a:r>
              <a:rPr lang="it-IT" b="0" i="0" dirty="0" err="1">
                <a:effectLst/>
                <a:latin typeface="Menlo" panose="020B0609030804020204" pitchFamily="49" charset="0"/>
              </a:rPr>
              <a:t>growth</a:t>
            </a:r>
            <a:r>
              <a:rPr lang="it-IT" b="0" i="0" dirty="0">
                <a:effectLst/>
                <a:latin typeface="Menlo" panose="020B0609030804020204" pitchFamily="49" charset="0"/>
              </a:rPr>
              <a:t> (1970–2022): 1.83%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426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D8769F-110F-35F5-251D-A6389CD12473}"/>
              </a:ext>
            </a:extLst>
          </p:cNvPr>
          <p:cNvSpPr txBox="1"/>
          <p:nvPr/>
        </p:nvSpPr>
        <p:spPr>
          <a:xfrm>
            <a:off x="7917574" y="1574153"/>
            <a:ext cx="39136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i="0" dirty="0">
                <a:effectLst/>
                <a:latin typeface="Menlo" panose="020B0609030804020204" pitchFamily="49" charset="0"/>
              </a:rPr>
              <a:t>The ACF of GDP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growth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rates shows low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persistence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with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alternating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positive and negative spikes,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suggesting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little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autocorrelation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.</a:t>
            </a:r>
          </a:p>
          <a:p>
            <a:endParaRPr lang="it-IT" sz="14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D635F36-A93C-B333-E040-DBFDE27DE461}"/>
              </a:ext>
            </a:extLst>
          </p:cNvPr>
          <p:cNvSpPr txBox="1"/>
          <p:nvPr/>
        </p:nvSpPr>
        <p:spPr>
          <a:xfrm>
            <a:off x="7917573" y="4619844"/>
            <a:ext cx="39136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i="0" dirty="0">
                <a:effectLst/>
                <a:latin typeface="Menlo" panose="020B0609030804020204" pitchFamily="49" charset="0"/>
              </a:rPr>
              <a:t>In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contrast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, the ACF of the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logarithm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shows strong,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slowly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decaying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correlations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,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indicating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 strong trend </a:t>
            </a:r>
            <a:r>
              <a:rPr lang="it-IT" sz="1400" b="0" i="0" dirty="0" err="1">
                <a:effectLst/>
                <a:latin typeface="Menlo" panose="020B0609030804020204" pitchFamily="49" charset="0"/>
              </a:rPr>
              <a:t>persistence</a:t>
            </a:r>
            <a:r>
              <a:rPr lang="it-IT" sz="1400" b="0" i="0" dirty="0">
                <a:effectLst/>
                <a:latin typeface="Menlo" panose="020B0609030804020204" pitchFamily="49" charset="0"/>
              </a:rPr>
              <a:t>.</a:t>
            </a:r>
            <a:endParaRPr lang="it-IT" sz="1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EA9DD5D-F64B-7E24-9B24-5FB945EC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4" y="888859"/>
            <a:ext cx="6654282" cy="254014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B46892B-8DE9-20DB-139A-0BC362C76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6" y="3884804"/>
            <a:ext cx="7016619" cy="242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6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6E76ED7-40D4-D4E6-7527-6E83ADA51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13880"/>
            <a:ext cx="7772400" cy="483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60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C5B7F27D-5481-23EB-6FAA-3BB32D71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22220"/>
            <a:ext cx="7772400" cy="18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2769</TotalTime>
  <Words>139</Words>
  <Application>Microsoft Macintosh PowerPoint</Application>
  <PresentationFormat>Widescreen</PresentationFormat>
  <Paragraphs>14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6" baseType="lpstr">
      <vt:lpstr>Aharoni</vt:lpstr>
      <vt:lpstr>Aptos</vt:lpstr>
      <vt:lpstr>Aptos Black</vt:lpstr>
      <vt:lpstr>Aptos Display</vt:lpstr>
      <vt:lpstr>Aptos ExtraBold</vt:lpstr>
      <vt:lpstr>Arial</vt:lpstr>
      <vt:lpstr>Helvetica</vt:lpstr>
      <vt:lpstr>Menlo</vt:lpstr>
      <vt:lpstr>Tema di Office</vt:lpstr>
      <vt:lpstr>FRANCESCO SEBASTIANO MEMMOLA  50893A</vt:lpstr>
      <vt:lpstr>Variables descriptions</vt:lpstr>
      <vt:lpstr>Presentazione standard di PowerPoint</vt:lpstr>
      <vt:lpstr>∆rgdppct 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Sebastiano Memmola</dc:creator>
  <cp:lastModifiedBy>Francesco Sebastiano Memmola</cp:lastModifiedBy>
  <cp:revision>2</cp:revision>
  <dcterms:created xsi:type="dcterms:W3CDTF">2025-10-07T09:31:31Z</dcterms:created>
  <dcterms:modified xsi:type="dcterms:W3CDTF">2025-10-09T07:41:29Z</dcterms:modified>
</cp:coreProperties>
</file>