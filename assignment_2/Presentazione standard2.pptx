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66"/>
  </p:normalViewPr>
  <p:slideViewPr>
    <p:cSldViewPr snapToGrid="0">
      <p:cViewPr varScale="1">
        <p:scale>
          <a:sx n="93" d="100"/>
          <a:sy n="93" d="100"/>
        </p:scale>
        <p:origin x="248" y="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3B9CB9-1FA8-1848-B431-E9137D9328CC}" type="datetimeFigureOut">
              <a:rPr lang="it-IT" smtClean="0"/>
              <a:t>25/10/25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498327-8D4C-7740-B0E9-9CA5636A55F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7268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498327-8D4C-7740-B0E9-9CA5636A55F5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52802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3C0979-EB39-2ADD-0A61-0786F0998A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59230CB-449F-D4BE-F3D1-5A0AA30FCC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CEA032E-BEB8-603A-E579-EB772423B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75453-A70D-9345-B6FE-2BF534C0944B}" type="datetimeFigureOut">
              <a:rPr lang="it-IT" smtClean="0"/>
              <a:t>25/10/25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C0561FF-9CFA-8DBD-8D31-CFD7F9BEB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CD95CB4-8FBA-285E-D1C7-BC45F645C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9E11-8A5F-4E4F-8EAB-B7A9EF7540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8860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D54C00-F34D-D3C9-9D76-8F50D8975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3779DF7-2A20-90DD-C6D7-65984E388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F91B48F-6F1C-98D3-0B74-63394B670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75453-A70D-9345-B6FE-2BF534C0944B}" type="datetimeFigureOut">
              <a:rPr lang="it-IT" smtClean="0"/>
              <a:t>25/10/25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AEEBCAC-73D7-C077-30BF-CF4913E4D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C6A1CFC-EB2A-72D0-4527-BD6F3D8C8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9E11-8A5F-4E4F-8EAB-B7A9EF7540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2076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E487419-8B68-03F2-2BC8-A1B012824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B4A9EA6-FA4B-67D4-311E-A56EA13D3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5CADE6F-A613-4056-5FE7-AA576A413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75453-A70D-9345-B6FE-2BF534C0944B}" type="datetimeFigureOut">
              <a:rPr lang="it-IT" smtClean="0"/>
              <a:t>25/10/25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1029AFB-04A0-EBD0-110B-5D26D772E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EF12D7D-44B8-69A8-F1BA-A4582BE0F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9E11-8A5F-4E4F-8EAB-B7A9EF7540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58931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CF7C49-22C6-6212-0C77-EA64AA3F1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7FEB8BF-1B61-C7E0-75AF-D5B5FCB650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876D0FE-0D5D-0E63-635C-A3820F9FA9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393D4E6-308F-C6C7-5519-AA6DC9D4A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75453-A70D-9345-B6FE-2BF534C0944B}" type="datetimeFigureOut">
              <a:rPr lang="it-IT" smtClean="0"/>
              <a:t>25/10/25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9C3DF42-6E14-7E67-AF69-826017500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B0A75A7-A06B-45EA-04A5-E59D22A6B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9E11-8A5F-4E4F-8EAB-B7A9EF7540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06348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273522-F410-7D10-E687-156C25E95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A018C81-27A2-1986-E873-9D8E6E00F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4513FB5-69D2-5B22-31CD-94890C5652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B011496-937B-CC99-0970-0EE3D8F621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C2B6357-8D43-6C5D-9B4C-4EBE371D0A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B544C040-2ACB-CC32-766F-B73526065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75453-A70D-9345-B6FE-2BF534C0944B}" type="datetimeFigureOut">
              <a:rPr lang="it-IT" smtClean="0"/>
              <a:t>25/10/25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1C0C81A2-6367-6669-53C8-929ABCBFC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88CB66D-F7FE-DEC5-C76D-93F2FD303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9E11-8A5F-4E4F-8EAB-B7A9EF7540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8778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C1C76D-910E-6C3E-B3BB-EB18AFFB8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E7906C-BB8B-CB78-C723-CD6AEB6BB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75453-A70D-9345-B6FE-2BF534C0944B}" type="datetimeFigureOut">
              <a:rPr lang="it-IT" smtClean="0"/>
              <a:t>25/10/25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85AB5A1-21D9-DE04-1A3E-D4C32B345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60A72A4-5A2D-8F5F-E09E-19432422D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9E11-8A5F-4E4F-8EAB-B7A9EF7540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0297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3026238-58AA-F1C3-A50F-79943793D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75453-A70D-9345-B6FE-2BF534C0944B}" type="datetimeFigureOut">
              <a:rPr lang="it-IT" smtClean="0"/>
              <a:t>25/10/25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C90E0B0-1BC6-CAC0-74EC-9B45BFE80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221948D-6ABE-17BA-5E0F-C3DD7427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9E11-8A5F-4E4F-8EAB-B7A9EF7540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00964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3D035A-ADD0-D577-6769-2AF7BE00F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FC0FCB-BAE7-710E-02A7-744A63D26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5F791D4-B347-A588-A82F-E655BE4DB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807E9B2-092D-464D-A922-C53A21766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75453-A70D-9345-B6FE-2BF534C0944B}" type="datetimeFigureOut">
              <a:rPr lang="it-IT" smtClean="0"/>
              <a:t>25/10/25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D718E63-4E5D-C0F4-305D-4B74C46C5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2334103-38EC-296B-8FAC-191374D3D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9E11-8A5F-4E4F-8EAB-B7A9EF7540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2610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3C992D-A1FA-0994-B688-E3EA52154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E61E3279-62A7-2299-0835-532ED0302E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7F63ABB-252C-58EB-B064-52B17C4D28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BB03074-5C5D-2597-1432-B0AA6E431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75453-A70D-9345-B6FE-2BF534C0944B}" type="datetimeFigureOut">
              <a:rPr lang="it-IT" smtClean="0"/>
              <a:t>25/10/25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2717E66-F35E-4E64-5F89-0B86DB33B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3247156-BB34-16C8-BE9A-176D5023F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9E11-8A5F-4E4F-8EAB-B7A9EF7540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14397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F28AEA-A508-BF03-F5D0-2BB06DD83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5A867E9-DBC1-2FD0-1E47-5C9DEB791B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405523D-2F59-37A9-B152-5EA41C13C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75453-A70D-9345-B6FE-2BF534C0944B}" type="datetimeFigureOut">
              <a:rPr lang="it-IT" smtClean="0"/>
              <a:t>25/10/25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2B64AE1-12F9-E09B-421C-18240EFAF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F50A69-BDA2-569D-4A9A-7045F0B60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9E11-8A5F-4E4F-8EAB-B7A9EF7540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8742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020E4D47-FBE0-DD52-CBC0-29AE781882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C83A303-9B26-4348-DB1D-6DD9716AF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EB518C5-F436-C016-A076-8736495D8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75453-A70D-9345-B6FE-2BF534C0944B}" type="datetimeFigureOut">
              <a:rPr lang="it-IT" smtClean="0"/>
              <a:t>25/10/25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4BD5715-CB39-B9C3-2B5B-3C167ABA5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26FA042-23BA-CE9C-E4B3-E0AD81D91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9E11-8A5F-4E4F-8EAB-B7A9EF7540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94700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99777F6C-508A-3701-BC65-B9E63D3A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9F711A1-94F1-6AFF-0B28-B36EDD7A1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599BA6-6E26-520E-35AE-C4006F0EC1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775453-A70D-9345-B6FE-2BF534C0944B}" type="datetimeFigureOut">
              <a:rPr lang="it-IT" smtClean="0"/>
              <a:t>25/10/25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CD9DE99-B82D-3BFF-BA93-FB0C2EA8A1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FCCCF78-EA5F-2917-0B62-0FFAF061AD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4B9E11-8A5F-4E4F-8EAB-B7A9EF7540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97920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09D2BB-F1AB-3DBD-44E1-1DB992563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4113" y="2307771"/>
            <a:ext cx="9998529" cy="4420734"/>
          </a:xfrm>
        </p:spPr>
        <p:txBody>
          <a:bodyPr>
            <a:noAutofit/>
          </a:bodyPr>
          <a:lstStyle/>
          <a:p>
            <a:pPr algn="r"/>
            <a:r>
              <a:rPr lang="it-IT" sz="4800" b="1" i="1" dirty="0">
                <a:latin typeface="Aptos Black" panose="020B0004020202020204" pitchFamily="34" charset="0"/>
                <a:cs typeface="Aharoni" panose="02010803020104030203" pitchFamily="2" charset="-79"/>
              </a:rPr>
              <a:t>FRANCESCO SEBASTIANO MEMMOLA</a:t>
            </a:r>
            <a:br>
              <a:rPr lang="it-IT" sz="4800" b="1" i="1" dirty="0">
                <a:latin typeface="Aptos Black" panose="020B0004020202020204" pitchFamily="34" charset="0"/>
                <a:cs typeface="Aharoni" panose="02010803020104030203" pitchFamily="2" charset="-79"/>
              </a:rPr>
            </a:br>
            <a:br>
              <a:rPr lang="it-IT" sz="4800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it-IT" sz="5400" b="1" u="none" strike="noStrike" dirty="0">
                <a:solidFill>
                  <a:srgbClr val="000000"/>
                </a:solidFill>
                <a:effectLst/>
                <a:latin typeface="Aptos ExtraBold" panose="020B0004020202020204" pitchFamily="34" charset="0"/>
                <a:ea typeface="Apple Symbols" panose="02000000000000000000" pitchFamily="2" charset="-79"/>
                <a:cs typeface="Apple Symbols" panose="02000000000000000000" pitchFamily="2" charset="-79"/>
              </a:rPr>
              <a:t>50893A</a:t>
            </a:r>
            <a:endParaRPr lang="it-IT" sz="4800" b="1" dirty="0">
              <a:latin typeface="Aptos ExtraBold" panose="020B0004020202020204" pitchFamily="34" charset="0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571622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60B0AC-0361-CF17-EA28-7E186A602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Real price gasoline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9CF83342-433D-00DC-67FF-62B394B78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200" y="2203450"/>
            <a:ext cx="5892800" cy="245110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3C1A842A-C661-1D03-5960-367BECE04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" y="1600633"/>
            <a:ext cx="6019800" cy="3917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7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37D53470-3D1E-31F1-C361-79F61A9C8B5B}"/>
              </a:ext>
            </a:extLst>
          </p:cNvPr>
          <p:cNvSpPr txBox="1"/>
          <p:nvPr/>
        </p:nvSpPr>
        <p:spPr>
          <a:xfrm>
            <a:off x="734290" y="0"/>
            <a:ext cx="999704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400" b="1" dirty="0"/>
              <a:t>Sample ACF of log(Real Gasoline Price) and </a:t>
            </a:r>
            <a:r>
              <a:rPr lang="it-IT" sz="4400" b="1" dirty="0" err="1"/>
              <a:t>its</a:t>
            </a:r>
            <a:r>
              <a:rPr lang="it-IT" sz="4400" b="1" dirty="0"/>
              <a:t> First </a:t>
            </a:r>
            <a:r>
              <a:rPr lang="it-IT" sz="4400" b="1" dirty="0" err="1"/>
              <a:t>Difference</a:t>
            </a:r>
            <a:endParaRPr lang="it-IT" sz="4400" dirty="0"/>
          </a:p>
          <a:p>
            <a:endParaRPr lang="it-IT" sz="4400"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2A50689C-38BF-EF51-2D3D-5D3208EA2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91" y="1447799"/>
            <a:ext cx="3886200" cy="2528989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DBF7BAB2-C51F-3A08-6EC6-CC65F2CC33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290" y="3976788"/>
            <a:ext cx="3886199" cy="2528989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295298D6-B19E-4BCF-75D0-8A6EA1E840EB}"/>
              </a:ext>
            </a:extLst>
          </p:cNvPr>
          <p:cNvSpPr txBox="1"/>
          <p:nvPr/>
        </p:nvSpPr>
        <p:spPr>
          <a:xfrm>
            <a:off x="4849091" y="1842760"/>
            <a:ext cx="7038109" cy="4207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t-IT" dirty="0"/>
              <a:t>The ACF of </a:t>
            </a:r>
            <a:r>
              <a:rPr lang="it-IT" i="1" dirty="0" err="1"/>
              <a:t>y</a:t>
            </a:r>
            <a:r>
              <a:rPr lang="it-IT" i="1" baseline="-25000" dirty="0" err="1"/>
              <a:t>t</a:t>
            </a:r>
            <a:r>
              <a:rPr lang="it-IT" i="1" dirty="0"/>
              <a:t> = log(Real Gasoline </a:t>
            </a:r>
            <a:r>
              <a:rPr lang="it-IT" i="1" dirty="0" err="1"/>
              <a:t>Price</a:t>
            </a:r>
            <a:r>
              <a:rPr lang="it-IT" i="1" baseline="-25000" dirty="0" err="1"/>
              <a:t>t</a:t>
            </a:r>
            <a:r>
              <a:rPr lang="it-IT" i="1" dirty="0"/>
              <a:t> ) </a:t>
            </a:r>
            <a:r>
              <a:rPr lang="it-IT" dirty="0" err="1"/>
              <a:t>exhibits</a:t>
            </a:r>
            <a:r>
              <a:rPr lang="it-IT" dirty="0"/>
              <a:t> </a:t>
            </a:r>
            <a:r>
              <a:rPr lang="it-IT" dirty="0" err="1"/>
              <a:t>very</a:t>
            </a:r>
            <a:r>
              <a:rPr lang="it-IT" dirty="0"/>
              <a:t> slow </a:t>
            </a:r>
            <a:r>
              <a:rPr lang="it-IT" dirty="0" err="1"/>
              <a:t>decay</a:t>
            </a:r>
            <a:r>
              <a:rPr lang="it-IT" dirty="0"/>
              <a:t>, with </a:t>
            </a:r>
            <a:r>
              <a:rPr lang="it-IT" dirty="0" err="1"/>
              <a:t>autocorrelations</a:t>
            </a:r>
            <a:r>
              <a:rPr lang="it-IT" dirty="0"/>
              <a:t> </a:t>
            </a:r>
            <a:r>
              <a:rPr lang="it-IT" dirty="0" err="1"/>
              <a:t>remaining</a:t>
            </a:r>
            <a:r>
              <a:rPr lang="it-IT" dirty="0"/>
              <a:t> high and positive over </a:t>
            </a:r>
            <a:r>
              <a:rPr lang="it-IT" dirty="0" err="1"/>
              <a:t>many</a:t>
            </a:r>
            <a:r>
              <a:rPr lang="it-IT" dirty="0"/>
              <a:t> lags. </a:t>
            </a:r>
            <a:r>
              <a:rPr lang="it-IT" dirty="0" err="1"/>
              <a:t>This</a:t>
            </a:r>
            <a:r>
              <a:rPr lang="it-IT" dirty="0"/>
              <a:t> pattern </a:t>
            </a:r>
            <a:r>
              <a:rPr lang="it-IT" dirty="0" err="1"/>
              <a:t>indicates</a:t>
            </a:r>
            <a:r>
              <a:rPr lang="it-IT" dirty="0"/>
              <a:t> strong </a:t>
            </a:r>
            <a:r>
              <a:rPr lang="it-IT" dirty="0" err="1"/>
              <a:t>persistence</a:t>
            </a:r>
            <a:r>
              <a:rPr lang="it-IT" dirty="0"/>
              <a:t> and </a:t>
            </a:r>
            <a:r>
              <a:rPr lang="it-IT" dirty="0" err="1"/>
              <a:t>suggests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i="1" dirty="0" err="1"/>
              <a:t>y</a:t>
            </a:r>
            <a:r>
              <a:rPr lang="it-IT" i="1" baseline="-25000" dirty="0" err="1"/>
              <a:t>t</a:t>
            </a:r>
            <a:r>
              <a:rPr lang="it-IT" i="1" baseline="-25000" dirty="0"/>
              <a:t> </a:t>
            </a:r>
            <a:r>
              <a:rPr lang="it-IT" dirty="0" err="1"/>
              <a:t>is</a:t>
            </a:r>
            <a:r>
              <a:rPr lang="it-IT" dirty="0"/>
              <a:t> non-</a:t>
            </a:r>
            <a:r>
              <a:rPr lang="it-IT" dirty="0" err="1"/>
              <a:t>stationary</a:t>
            </a:r>
            <a:r>
              <a:rPr lang="it-IT" dirty="0"/>
              <a:t>, </a:t>
            </a:r>
            <a:r>
              <a:rPr lang="it-IT" dirty="0" err="1"/>
              <a:t>behaving</a:t>
            </a:r>
            <a:r>
              <a:rPr lang="it-IT" dirty="0"/>
              <a:t> like a random </a:t>
            </a:r>
            <a:r>
              <a:rPr lang="it-IT" dirty="0" err="1"/>
              <a:t>walk</a:t>
            </a:r>
            <a:r>
              <a:rPr lang="it-IT" dirty="0"/>
              <a:t>. </a:t>
            </a:r>
          </a:p>
          <a:p>
            <a:pPr>
              <a:lnSpc>
                <a:spcPct val="150000"/>
              </a:lnSpc>
            </a:pPr>
            <a:br>
              <a:rPr lang="it-IT" dirty="0"/>
            </a:br>
            <a:r>
              <a:rPr lang="it-IT" dirty="0"/>
              <a:t>In </a:t>
            </a:r>
            <a:r>
              <a:rPr lang="it-IT" dirty="0" err="1"/>
              <a:t>contrast</a:t>
            </a:r>
            <a:r>
              <a:rPr lang="it-IT" dirty="0"/>
              <a:t>, the ACF of the first </a:t>
            </a:r>
            <a:r>
              <a:rPr lang="it-IT" dirty="0" err="1"/>
              <a:t>difference</a:t>
            </a:r>
            <a:r>
              <a:rPr lang="it-IT" dirty="0"/>
              <a:t> </a:t>
            </a:r>
            <a:r>
              <a:rPr lang="en-GB" sz="1800" dirty="0">
                <a:effectLst/>
                <a:latin typeface="Symbol" pitchFamily="2" charset="2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it-IT" i="1" dirty="0" err="1"/>
              <a:t>y</a:t>
            </a:r>
            <a:r>
              <a:rPr lang="it-IT" i="1" baseline="-25000" dirty="0" err="1"/>
              <a:t>t</a:t>
            </a:r>
            <a:r>
              <a:rPr lang="it-IT" i="1" baseline="-25000" dirty="0"/>
              <a:t> </a:t>
            </a:r>
            <a:r>
              <a:rPr lang="it-IT" dirty="0"/>
              <a:t>= </a:t>
            </a:r>
            <a:r>
              <a:rPr lang="it-IT" i="1" dirty="0" err="1"/>
              <a:t>y</a:t>
            </a:r>
            <a:r>
              <a:rPr lang="it-IT" i="1" baseline="-25000" dirty="0" err="1"/>
              <a:t>t</a:t>
            </a:r>
            <a:r>
              <a:rPr lang="it-IT" dirty="0"/>
              <a:t> - </a:t>
            </a:r>
            <a:r>
              <a:rPr lang="it-IT" i="1" dirty="0" err="1"/>
              <a:t>y</a:t>
            </a:r>
            <a:r>
              <a:rPr lang="it-IT" i="1" baseline="-25000" dirty="0" err="1"/>
              <a:t>t</a:t>
            </a:r>
            <a:r>
              <a:rPr lang="it-IT" i="1" baseline="-25000" dirty="0"/>
              <a:t> -1 </a:t>
            </a:r>
            <a:r>
              <a:rPr lang="it-IT" dirty="0"/>
              <a:t>drops </a:t>
            </a:r>
            <a:r>
              <a:rPr lang="it-IT" dirty="0" err="1"/>
              <a:t>sharply</a:t>
            </a:r>
            <a:r>
              <a:rPr lang="it-IT" dirty="0"/>
              <a:t> after lag 1 and </a:t>
            </a:r>
            <a:r>
              <a:rPr lang="it-IT" dirty="0" err="1"/>
              <a:t>fluctuates</a:t>
            </a:r>
            <a:r>
              <a:rPr lang="it-IT" dirty="0"/>
              <a:t> </a:t>
            </a:r>
            <a:r>
              <a:rPr lang="it-IT" dirty="0" err="1"/>
              <a:t>around</a:t>
            </a:r>
            <a:r>
              <a:rPr lang="it-IT" dirty="0"/>
              <a:t> zero, </a:t>
            </a:r>
            <a:r>
              <a:rPr lang="it-IT" dirty="0" err="1"/>
              <a:t>indicating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the </a:t>
            </a:r>
            <a:r>
              <a:rPr lang="it-IT" dirty="0" err="1"/>
              <a:t>differenced</a:t>
            </a:r>
            <a:r>
              <a:rPr lang="it-IT" dirty="0"/>
              <a:t> </a:t>
            </a:r>
            <a:r>
              <a:rPr lang="it-IT" dirty="0" err="1"/>
              <a:t>series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approximately</a:t>
            </a:r>
            <a:r>
              <a:rPr lang="it-IT" dirty="0"/>
              <a:t> </a:t>
            </a:r>
            <a:r>
              <a:rPr lang="it-IT" dirty="0" err="1"/>
              <a:t>stationary</a:t>
            </a:r>
            <a:r>
              <a:rPr lang="it-IT" dirty="0"/>
              <a:t>. </a:t>
            </a:r>
            <a:br>
              <a:rPr lang="it-IT" dirty="0"/>
            </a:br>
            <a:r>
              <a:rPr lang="it-IT" dirty="0" err="1"/>
              <a:t>These</a:t>
            </a:r>
            <a:r>
              <a:rPr lang="it-IT" dirty="0"/>
              <a:t> </a:t>
            </a:r>
            <a:r>
              <a:rPr lang="it-IT" dirty="0" err="1"/>
              <a:t>results</a:t>
            </a:r>
            <a:r>
              <a:rPr lang="it-IT" dirty="0"/>
              <a:t> </a:t>
            </a:r>
            <a:r>
              <a:rPr lang="it-IT" dirty="0" err="1"/>
              <a:t>confirm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the log of </a:t>
            </a:r>
            <a:r>
              <a:rPr lang="it-IT" dirty="0" err="1"/>
              <a:t>real</a:t>
            </a:r>
            <a:r>
              <a:rPr lang="it-IT" dirty="0"/>
              <a:t> gasoline prices follows a </a:t>
            </a:r>
            <a:r>
              <a:rPr lang="it-IT" dirty="0" err="1"/>
              <a:t>process</a:t>
            </a:r>
            <a:r>
              <a:rPr lang="it-IT" dirty="0"/>
              <a:t> close to an </a:t>
            </a:r>
            <a:r>
              <a:rPr lang="it-IT" dirty="0" err="1"/>
              <a:t>integrated</a:t>
            </a:r>
            <a:r>
              <a:rPr lang="it-IT" dirty="0"/>
              <a:t> </a:t>
            </a:r>
            <a:r>
              <a:rPr lang="it-IT" dirty="0" err="1"/>
              <a:t>order</a:t>
            </a:r>
            <a:r>
              <a:rPr lang="it-IT" dirty="0"/>
              <a:t> one </a:t>
            </a:r>
            <a:r>
              <a:rPr lang="it-IT" dirty="0" err="1"/>
              <a:t>series</a:t>
            </a:r>
            <a:r>
              <a:rPr lang="it-IT" dirty="0"/>
              <a:t>, </a:t>
            </a:r>
            <a:r>
              <a:rPr lang="it-IT" i="1" dirty="0"/>
              <a:t>I(1) .</a:t>
            </a:r>
          </a:p>
        </p:txBody>
      </p:sp>
    </p:spTree>
    <p:extLst>
      <p:ext uri="{BB962C8B-B14F-4D97-AF65-F5344CB8AC3E}">
        <p14:creationId xmlns:p14="http://schemas.microsoft.com/office/powerpoint/2010/main" val="637010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0C57856A-580B-CE03-9CDA-E4B8FEE75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612" y="2286000"/>
            <a:ext cx="4013200" cy="11430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410C24D3-89F6-872D-A1BC-291CA60FA74A}"/>
              </a:ext>
            </a:extLst>
          </p:cNvPr>
          <p:cNvSpPr txBox="1"/>
          <p:nvPr/>
        </p:nvSpPr>
        <p:spPr>
          <a:xfrm>
            <a:off x="734290" y="0"/>
            <a:ext cx="99970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400" b="1" dirty="0"/>
              <a:t>AR(1) </a:t>
            </a:r>
            <a:r>
              <a:rPr lang="it-IT" sz="4400" b="1" dirty="0" err="1"/>
              <a:t>Estimation</a:t>
            </a:r>
            <a:r>
              <a:rPr lang="it-IT" sz="4400" b="1" dirty="0"/>
              <a:t> for </a:t>
            </a:r>
            <a:r>
              <a:rPr lang="it-IT" sz="4400" i="1" dirty="0" err="1"/>
              <a:t>y</a:t>
            </a:r>
            <a:r>
              <a:rPr lang="it-IT" sz="4400" i="1" baseline="-25000" dirty="0" err="1"/>
              <a:t>t</a:t>
            </a:r>
            <a:r>
              <a:rPr lang="it-IT" sz="4400" b="1" dirty="0"/>
              <a:t> and </a:t>
            </a:r>
            <a:r>
              <a:rPr lang="en-GB" sz="4400" dirty="0">
                <a:effectLst/>
                <a:latin typeface="Symbol" pitchFamily="2" charset="2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it-IT" sz="4400" i="1" dirty="0" err="1"/>
              <a:t>y</a:t>
            </a:r>
            <a:r>
              <a:rPr lang="it-IT" sz="4400" i="1" baseline="-25000" dirty="0" err="1"/>
              <a:t>t</a:t>
            </a:r>
            <a:r>
              <a:rPr lang="it-IT" sz="4400" i="1" baseline="-25000" dirty="0"/>
              <a:t> </a:t>
            </a:r>
            <a:endParaRPr lang="it-IT" sz="44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911DA99-8895-AF93-AD28-CE4A1EF6CE25}"/>
              </a:ext>
            </a:extLst>
          </p:cNvPr>
          <p:cNvSpPr txBox="1"/>
          <p:nvPr/>
        </p:nvSpPr>
        <p:spPr>
          <a:xfrm>
            <a:off x="6543040" y="2107476"/>
            <a:ext cx="50596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The AR(1) </a:t>
            </a:r>
            <a:r>
              <a:rPr lang="it-IT" dirty="0" err="1"/>
              <a:t>coefficient</a:t>
            </a:r>
            <a:r>
              <a:rPr lang="it-IT" dirty="0"/>
              <a:t> for </a:t>
            </a:r>
            <a:r>
              <a:rPr lang="it-IT" sz="1800" i="1" dirty="0" err="1"/>
              <a:t>y</a:t>
            </a:r>
            <a:r>
              <a:rPr lang="it-IT" sz="1800" i="1" baseline="-25000" dirty="0" err="1"/>
              <a:t>t</a:t>
            </a:r>
            <a:r>
              <a:rPr lang="it-IT" dirty="0"/>
              <a:t> (0.9845) </a:t>
            </a:r>
            <a:r>
              <a:rPr lang="it-IT" dirty="0" err="1"/>
              <a:t>is</a:t>
            </a:r>
            <a:r>
              <a:rPr lang="it-IT" dirty="0"/>
              <a:t> close to 1, </a:t>
            </a:r>
            <a:r>
              <a:rPr lang="it-IT" dirty="0" err="1"/>
              <a:t>indicating</a:t>
            </a:r>
            <a:r>
              <a:rPr lang="it-IT" dirty="0"/>
              <a:t> </a:t>
            </a:r>
            <a:r>
              <a:rPr lang="it-IT" dirty="0" err="1"/>
              <a:t>near</a:t>
            </a:r>
            <a:r>
              <a:rPr lang="it-IT" dirty="0"/>
              <a:t>–</a:t>
            </a:r>
            <a:r>
              <a:rPr lang="it-IT" dirty="0" err="1"/>
              <a:t>unit</a:t>
            </a:r>
            <a:r>
              <a:rPr lang="it-IT" dirty="0"/>
              <a:t>-root </a:t>
            </a:r>
            <a:r>
              <a:rPr lang="it-IT" dirty="0" err="1"/>
              <a:t>behavior</a:t>
            </a:r>
            <a:r>
              <a:rPr lang="it-IT" dirty="0"/>
              <a:t>. </a:t>
            </a:r>
          </a:p>
          <a:p>
            <a:endParaRPr lang="it-IT" dirty="0"/>
          </a:p>
          <a:p>
            <a:r>
              <a:rPr lang="it-IT" dirty="0"/>
              <a:t>After </a:t>
            </a:r>
            <a:r>
              <a:rPr lang="it-IT" dirty="0" err="1"/>
              <a:t>differencing</a:t>
            </a:r>
            <a:r>
              <a:rPr lang="it-IT" dirty="0"/>
              <a:t>, the </a:t>
            </a:r>
            <a:r>
              <a:rPr lang="it-IT" dirty="0" err="1"/>
              <a:t>coefficient</a:t>
            </a:r>
            <a:r>
              <a:rPr lang="it-IT" dirty="0"/>
              <a:t> (0.4547) </a:t>
            </a:r>
            <a:r>
              <a:rPr lang="it-IT" dirty="0" err="1"/>
              <a:t>confirms</a:t>
            </a:r>
            <a:r>
              <a:rPr lang="it-IT" dirty="0"/>
              <a:t> </a:t>
            </a:r>
            <a:r>
              <a:rPr lang="it-IT" dirty="0" err="1"/>
              <a:t>stationarity</a:t>
            </a:r>
            <a:r>
              <a:rPr lang="it-IT" dirty="0"/>
              <a:t> with moderate short-</a:t>
            </a:r>
            <a:r>
              <a:rPr lang="it-IT" dirty="0" err="1"/>
              <a:t>term</a:t>
            </a:r>
            <a:r>
              <a:rPr lang="it-IT" dirty="0"/>
              <a:t> </a:t>
            </a:r>
            <a:r>
              <a:rPr lang="it-IT" dirty="0" err="1"/>
              <a:t>correlation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14519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81B61C-D4BB-E462-B733-613011AC5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840" y="0"/>
            <a:ext cx="10515600" cy="2456498"/>
          </a:xfrm>
        </p:spPr>
        <p:txBody>
          <a:bodyPr>
            <a:normAutofit fontScale="90000"/>
          </a:bodyPr>
          <a:lstStyle/>
          <a:p>
            <a:r>
              <a:rPr lang="it-IT" b="1" dirty="0"/>
              <a:t>Recursive 1-Step-Ahead Forecasts for log(Real Gasoline Price)</a:t>
            </a:r>
            <a:br>
              <a:rPr lang="it-IT" b="1" dirty="0"/>
            </a:br>
            <a:br>
              <a:rPr lang="it-IT" dirty="0">
                <a:solidFill>
                  <a:srgbClr val="000000"/>
                </a:solidFill>
                <a:effectLst/>
                <a:latin typeface="Helvetica" pitchFamily="2" charset="0"/>
              </a:rPr>
            </a:br>
            <a:endParaRPr lang="it-IT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E3673B6F-2418-7FAB-FC23-DEB185A7A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840" y="1431449"/>
            <a:ext cx="4403519" cy="2865640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4848D001-4AD6-A883-6E4D-0DA826051AC8}"/>
              </a:ext>
            </a:extLst>
          </p:cNvPr>
          <p:cNvSpPr txBox="1"/>
          <p:nvPr/>
        </p:nvSpPr>
        <p:spPr>
          <a:xfrm>
            <a:off x="5344160" y="1786964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All</a:t>
            </a:r>
            <a:r>
              <a:rPr lang="it-IT" dirty="0"/>
              <a:t> models produce </a:t>
            </a:r>
            <a:r>
              <a:rPr lang="it-IT" dirty="0" err="1"/>
              <a:t>very</a:t>
            </a:r>
            <a:r>
              <a:rPr lang="it-IT" dirty="0"/>
              <a:t> </a:t>
            </a:r>
            <a:r>
              <a:rPr lang="it-IT" dirty="0" err="1"/>
              <a:t>similar</a:t>
            </a:r>
            <a:r>
              <a:rPr lang="it-IT" dirty="0"/>
              <a:t> 1-step-ahead forecasts, </a:t>
            </a:r>
            <a:r>
              <a:rPr lang="it-IT" dirty="0" err="1"/>
              <a:t>closely</a:t>
            </a:r>
            <a:r>
              <a:rPr lang="it-IT" dirty="0"/>
              <a:t> tracking the </a:t>
            </a:r>
            <a:r>
              <a:rPr lang="it-IT" dirty="0" err="1"/>
              <a:t>actual</a:t>
            </a:r>
            <a:r>
              <a:rPr lang="it-IT" dirty="0"/>
              <a:t> log </a:t>
            </a:r>
            <a:r>
              <a:rPr lang="it-IT" dirty="0" err="1"/>
              <a:t>real</a:t>
            </a:r>
            <a:r>
              <a:rPr lang="it-IT" dirty="0"/>
              <a:t> gasoline price. The </a:t>
            </a:r>
            <a:r>
              <a:rPr lang="it-IT" b="1" dirty="0"/>
              <a:t>Random </a:t>
            </a:r>
            <a:r>
              <a:rPr lang="it-IT" b="1" dirty="0" err="1"/>
              <a:t>Walk</a:t>
            </a:r>
            <a:r>
              <a:rPr lang="it-IT" dirty="0"/>
              <a:t> </a:t>
            </a:r>
            <a:r>
              <a:rPr lang="it-IT" dirty="0" err="1"/>
              <a:t>serves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strong benchmark, </a:t>
            </a:r>
            <a:r>
              <a:rPr lang="it-IT" dirty="0" err="1"/>
              <a:t>while</a:t>
            </a:r>
            <a:r>
              <a:rPr lang="it-IT" dirty="0"/>
              <a:t> ARIMA models </a:t>
            </a: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marginally</a:t>
            </a:r>
            <a:r>
              <a:rPr lang="it-IT" dirty="0"/>
              <a:t> </a:t>
            </a:r>
            <a:r>
              <a:rPr lang="it-IT" dirty="0" err="1"/>
              <a:t>improve</a:t>
            </a:r>
            <a:r>
              <a:rPr lang="it-IT" dirty="0"/>
              <a:t> short-</a:t>
            </a:r>
            <a:r>
              <a:rPr lang="it-IT" dirty="0" err="1"/>
              <a:t>term</a:t>
            </a:r>
            <a:r>
              <a:rPr lang="it-IT" dirty="0"/>
              <a:t> dynamics.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confirms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y_t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highly</a:t>
            </a:r>
            <a:r>
              <a:rPr lang="it-IT" dirty="0"/>
              <a:t> </a:t>
            </a:r>
            <a:r>
              <a:rPr lang="it-IT" dirty="0" err="1"/>
              <a:t>persistent</a:t>
            </a:r>
            <a:r>
              <a:rPr lang="it-IT" dirty="0"/>
              <a:t> and </a:t>
            </a:r>
            <a:r>
              <a:rPr lang="it-IT" dirty="0" err="1"/>
              <a:t>behaves</a:t>
            </a:r>
            <a:r>
              <a:rPr lang="it-IT" dirty="0"/>
              <a:t> </a:t>
            </a:r>
            <a:r>
              <a:rPr lang="it-IT" dirty="0" err="1"/>
              <a:t>almost</a:t>
            </a:r>
            <a:r>
              <a:rPr lang="it-IT" dirty="0"/>
              <a:t> like a </a:t>
            </a:r>
            <a:r>
              <a:rPr lang="it-IT" b="1" dirty="0"/>
              <a:t>random </a:t>
            </a:r>
            <a:r>
              <a:rPr lang="it-IT" b="1" dirty="0" err="1"/>
              <a:t>walk</a:t>
            </a:r>
            <a:r>
              <a:rPr lang="it-IT" dirty="0"/>
              <a:t>.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460C4DC4-6BD0-DD18-B496-0864B07F6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0418" y="4626082"/>
            <a:ext cx="7772400" cy="1745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264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B2557B92-DC79-776A-650E-E15471659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840" y="1382149"/>
            <a:ext cx="4639725" cy="3019354"/>
          </a:xfrm>
          <a:prstGeom prst="rect">
            <a:avLst/>
          </a:prstGeom>
        </p:spPr>
      </p:pic>
      <p:sp>
        <p:nvSpPr>
          <p:cNvPr id="3" name="Titolo 1">
            <a:extLst>
              <a:ext uri="{FF2B5EF4-FFF2-40B4-BE49-F238E27FC236}">
                <a16:creationId xmlns:a16="http://schemas.microsoft.com/office/drawing/2014/main" id="{B0A04486-1861-CAFB-E7D0-60A44C3BF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840" y="-180598"/>
            <a:ext cx="10515600" cy="2456498"/>
          </a:xfrm>
        </p:spPr>
        <p:txBody>
          <a:bodyPr>
            <a:normAutofit fontScale="90000"/>
          </a:bodyPr>
          <a:lstStyle/>
          <a:p>
            <a:r>
              <a:rPr lang="it-IT" b="1" dirty="0" err="1"/>
              <a:t>Transforming</a:t>
            </a:r>
            <a:r>
              <a:rPr lang="it-IT" b="1" dirty="0"/>
              <a:t> Forecasts to Real Prices (</a:t>
            </a:r>
            <a:r>
              <a:rPr lang="it-IT" b="1" dirty="0" err="1"/>
              <a:t>Levels</a:t>
            </a:r>
            <a:r>
              <a:rPr lang="it-IT" b="1" dirty="0"/>
              <a:t>)</a:t>
            </a:r>
            <a:br>
              <a:rPr lang="it-IT" dirty="0"/>
            </a:br>
            <a:br>
              <a:rPr lang="it-IT" dirty="0">
                <a:solidFill>
                  <a:srgbClr val="000000"/>
                </a:solidFill>
                <a:effectLst/>
                <a:latin typeface="Helvetica" pitchFamily="2" charset="0"/>
              </a:rPr>
            </a:br>
            <a:endParaRPr lang="it-IT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864B7515-FED0-39C3-1505-996B1ECF0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056" y="4608087"/>
            <a:ext cx="8466437" cy="1735527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EE6C5380-14BF-DE3E-2C44-B5DB8C4791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40" y="4608087"/>
            <a:ext cx="3067016" cy="1735527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6185DC01-8652-F537-BB2C-C1A14D6C2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456" y="4760487"/>
            <a:ext cx="8466437" cy="1735527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C8F1C8F-57F0-7D67-C35A-3768EF86001E}"/>
              </a:ext>
            </a:extLst>
          </p:cNvPr>
          <p:cNvSpPr txBox="1"/>
          <p:nvPr/>
        </p:nvSpPr>
        <p:spPr>
          <a:xfrm>
            <a:off x="5735782" y="1646531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The forecasts in </a:t>
            </a:r>
            <a:r>
              <a:rPr lang="it-IT" dirty="0" err="1"/>
              <a:t>levels</a:t>
            </a:r>
            <a:r>
              <a:rPr lang="it-IT" dirty="0"/>
              <a:t> track the </a:t>
            </a:r>
            <a:r>
              <a:rPr lang="it-IT" dirty="0" err="1"/>
              <a:t>realized</a:t>
            </a:r>
            <a:r>
              <a:rPr lang="it-IT" dirty="0"/>
              <a:t> </a:t>
            </a:r>
            <a:r>
              <a:rPr lang="it-IT" dirty="0" err="1"/>
              <a:t>real</a:t>
            </a:r>
            <a:r>
              <a:rPr lang="it-IT" dirty="0"/>
              <a:t> gasoline price </a:t>
            </a:r>
            <a:r>
              <a:rPr lang="it-IT" dirty="0" err="1"/>
              <a:t>very</a:t>
            </a:r>
            <a:r>
              <a:rPr lang="it-IT" dirty="0"/>
              <a:t> </a:t>
            </a:r>
            <a:r>
              <a:rPr lang="it-IT" dirty="0" err="1"/>
              <a:t>closely</a:t>
            </a:r>
            <a:r>
              <a:rPr lang="it-IT" dirty="0"/>
              <a:t>.</a:t>
            </a:r>
          </a:p>
          <a:p>
            <a:r>
              <a:rPr lang="it-IT" dirty="0" err="1"/>
              <a:t>All</a:t>
            </a:r>
            <a:r>
              <a:rPr lang="it-IT" dirty="0"/>
              <a:t> models (Random </a:t>
            </a:r>
            <a:r>
              <a:rPr lang="it-IT" dirty="0" err="1"/>
              <a:t>Walk</a:t>
            </a:r>
            <a:r>
              <a:rPr lang="it-IT" dirty="0"/>
              <a:t> and ARIMA) are </a:t>
            </a:r>
            <a:r>
              <a:rPr lang="it-IT" dirty="0" err="1"/>
              <a:t>able</a:t>
            </a:r>
            <a:r>
              <a:rPr lang="it-IT" dirty="0"/>
              <a:t> to follow </a:t>
            </a:r>
            <a:r>
              <a:rPr lang="it-IT" dirty="0" err="1"/>
              <a:t>both</a:t>
            </a:r>
            <a:r>
              <a:rPr lang="it-IT" dirty="0"/>
              <a:t> medium-</a:t>
            </a:r>
            <a:r>
              <a:rPr lang="it-IT" dirty="0" err="1"/>
              <a:t>run</a:t>
            </a:r>
            <a:r>
              <a:rPr lang="it-IT" dirty="0"/>
              <a:t> </a:t>
            </a:r>
            <a:r>
              <a:rPr lang="it-IT" dirty="0" err="1"/>
              <a:t>movements</a:t>
            </a:r>
            <a:r>
              <a:rPr lang="it-IT" dirty="0"/>
              <a:t> and large spikes, so the </a:t>
            </a:r>
            <a:r>
              <a:rPr lang="it-IT" dirty="0" err="1"/>
              <a:t>transformation</a:t>
            </a:r>
            <a:r>
              <a:rPr lang="it-IT" dirty="0"/>
              <a:t> back to </a:t>
            </a:r>
            <a:r>
              <a:rPr lang="it-IT" dirty="0" err="1"/>
              <a:t>levels</a:t>
            </a:r>
            <a:r>
              <a:rPr lang="it-IT" dirty="0"/>
              <a:t> </a:t>
            </a:r>
            <a:r>
              <a:rPr lang="it-IT" dirty="0" err="1"/>
              <a:t>preserves</a:t>
            </a:r>
            <a:r>
              <a:rPr lang="it-IT" dirty="0"/>
              <a:t> forecast </a:t>
            </a:r>
            <a:r>
              <a:rPr lang="it-IT" dirty="0" err="1"/>
              <a:t>accuracy</a:t>
            </a:r>
            <a:r>
              <a:rPr lang="it-IT" dirty="0"/>
              <a:t> in </a:t>
            </a:r>
            <a:r>
              <a:rPr lang="it-IT" dirty="0" err="1"/>
              <a:t>economically</a:t>
            </a:r>
            <a:r>
              <a:rPr lang="it-IT" dirty="0"/>
              <a:t> </a:t>
            </a:r>
            <a:r>
              <a:rPr lang="it-IT" dirty="0" err="1"/>
              <a:t>meaningful</a:t>
            </a:r>
            <a:r>
              <a:rPr lang="it-IT" dirty="0"/>
              <a:t> </a:t>
            </a:r>
            <a:r>
              <a:rPr lang="it-IT" dirty="0" err="1"/>
              <a:t>units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7669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0D97FD-69E0-08EB-F925-39C5E0DB7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840" y="1500"/>
            <a:ext cx="10515600" cy="2456498"/>
          </a:xfrm>
        </p:spPr>
        <p:txBody>
          <a:bodyPr>
            <a:normAutofit fontScale="90000"/>
          </a:bodyPr>
          <a:lstStyle/>
          <a:p>
            <a:r>
              <a:rPr lang="it-IT" b="1" dirty="0"/>
              <a:t>Mean </a:t>
            </a:r>
            <a:r>
              <a:rPr lang="it-IT" b="1" dirty="0" err="1"/>
              <a:t>Squared</a:t>
            </a:r>
            <a:r>
              <a:rPr lang="it-IT" b="1" dirty="0"/>
              <a:t> Forecast </a:t>
            </a:r>
            <a:r>
              <a:rPr lang="it-IT" b="1" dirty="0" err="1"/>
              <a:t>Error</a:t>
            </a:r>
            <a:r>
              <a:rPr lang="it-IT" b="1" dirty="0"/>
              <a:t> (MSFE) Evaluation</a:t>
            </a:r>
            <a:br>
              <a:rPr lang="it-IT" b="1" dirty="0"/>
            </a:br>
            <a:br>
              <a:rPr lang="it-IT" b="1" dirty="0"/>
            </a:br>
            <a:br>
              <a:rPr lang="it-IT" b="1" dirty="0">
                <a:solidFill>
                  <a:srgbClr val="000000"/>
                </a:solidFill>
                <a:effectLst/>
                <a:latin typeface="Helvetica" pitchFamily="2" charset="0"/>
              </a:rPr>
            </a:br>
            <a:endParaRPr lang="it-IT" b="1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E00A1E3-CC7C-902E-5116-B404B086F4CE}"/>
              </a:ext>
            </a:extLst>
          </p:cNvPr>
          <p:cNvSpPr txBox="1"/>
          <p:nvPr/>
        </p:nvSpPr>
        <p:spPr>
          <a:xfrm>
            <a:off x="751840" y="1125923"/>
            <a:ext cx="10515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When</a:t>
            </a:r>
            <a:r>
              <a:rPr lang="it-IT" dirty="0"/>
              <a:t> forecasts are </a:t>
            </a:r>
            <a:r>
              <a:rPr lang="it-IT" dirty="0" err="1"/>
              <a:t>transformed</a:t>
            </a:r>
            <a:r>
              <a:rPr lang="it-IT" dirty="0"/>
              <a:t> back to </a:t>
            </a:r>
            <a:r>
              <a:rPr lang="it-IT" dirty="0" err="1"/>
              <a:t>real</a:t>
            </a:r>
            <a:r>
              <a:rPr lang="it-IT" dirty="0"/>
              <a:t> price </a:t>
            </a:r>
            <a:r>
              <a:rPr lang="it-IT" dirty="0" err="1"/>
              <a:t>levels</a:t>
            </a:r>
            <a:r>
              <a:rPr lang="it-IT" dirty="0"/>
              <a:t>, the ranking </a:t>
            </a:r>
            <a:r>
              <a:rPr lang="it-IT" dirty="0" err="1"/>
              <a:t>remains</a:t>
            </a:r>
            <a:r>
              <a:rPr lang="it-IT" dirty="0"/>
              <a:t> </a:t>
            </a:r>
            <a:r>
              <a:rPr lang="it-IT" dirty="0" err="1"/>
              <a:t>similar</a:t>
            </a:r>
            <a:r>
              <a:rPr lang="it-IT" dirty="0"/>
              <a:t>.</a:t>
            </a:r>
          </a:p>
          <a:p>
            <a:r>
              <a:rPr lang="it-IT" dirty="0" err="1"/>
              <a:t>Again</a:t>
            </a:r>
            <a:r>
              <a:rPr lang="it-IT" dirty="0"/>
              <a:t>, </a:t>
            </a:r>
            <a:r>
              <a:rPr lang="it-IT" b="1" dirty="0"/>
              <a:t>ARIMA(0,1,1)</a:t>
            </a:r>
            <a:r>
              <a:rPr lang="it-IT" dirty="0"/>
              <a:t> yields the </a:t>
            </a:r>
            <a:r>
              <a:rPr lang="it-IT" dirty="0" err="1"/>
              <a:t>smallest</a:t>
            </a:r>
            <a:r>
              <a:rPr lang="it-IT" dirty="0"/>
              <a:t> MSFE, </a:t>
            </a:r>
            <a:r>
              <a:rPr lang="it-IT" dirty="0" err="1"/>
              <a:t>but</a:t>
            </a:r>
            <a:r>
              <a:rPr lang="it-IT" dirty="0"/>
              <a:t> the </a:t>
            </a:r>
            <a:r>
              <a:rPr lang="it-IT" dirty="0" err="1"/>
              <a:t>differences</a:t>
            </a:r>
            <a:r>
              <a:rPr lang="it-IT" dirty="0"/>
              <a:t> </a:t>
            </a:r>
            <a:r>
              <a:rPr lang="it-IT" dirty="0" err="1"/>
              <a:t>among</a:t>
            </a:r>
            <a:r>
              <a:rPr lang="it-IT" dirty="0"/>
              <a:t> models are </a:t>
            </a:r>
            <a:r>
              <a:rPr lang="it-IT" b="1" dirty="0"/>
              <a:t>minor</a:t>
            </a:r>
            <a:r>
              <a:rPr lang="it-IT" dirty="0"/>
              <a:t>.</a:t>
            </a:r>
          </a:p>
          <a:p>
            <a:endParaRPr lang="it-IT" dirty="0"/>
          </a:p>
          <a:p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means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more </a:t>
            </a:r>
            <a:r>
              <a:rPr lang="it-IT" dirty="0" err="1"/>
              <a:t>complex</a:t>
            </a:r>
            <a:r>
              <a:rPr lang="it-IT" dirty="0"/>
              <a:t> models </a:t>
            </a:r>
            <a:r>
              <a:rPr lang="it-IT" dirty="0" err="1"/>
              <a:t>provide</a:t>
            </a:r>
            <a:r>
              <a:rPr lang="it-IT" dirty="0"/>
              <a:t> </a:t>
            </a:r>
            <a:r>
              <a:rPr lang="it-IT" b="1" dirty="0" err="1"/>
              <a:t>only</a:t>
            </a:r>
            <a:r>
              <a:rPr lang="it-IT" b="1" dirty="0"/>
              <a:t> </a:t>
            </a:r>
            <a:r>
              <a:rPr lang="it-IT" b="1" dirty="0" err="1"/>
              <a:t>modest</a:t>
            </a:r>
            <a:r>
              <a:rPr lang="it-IT" b="1" dirty="0"/>
              <a:t> gains</a:t>
            </a:r>
            <a:r>
              <a:rPr lang="it-IT" dirty="0"/>
              <a:t> </a:t>
            </a:r>
            <a:r>
              <a:rPr lang="it-IT" dirty="0" err="1"/>
              <a:t>compared</a:t>
            </a:r>
            <a:r>
              <a:rPr lang="it-IT" dirty="0"/>
              <a:t> to the Random </a:t>
            </a:r>
            <a:r>
              <a:rPr lang="it-IT" dirty="0" err="1"/>
              <a:t>Walk</a:t>
            </a:r>
            <a:r>
              <a:rPr lang="it-IT" dirty="0"/>
              <a:t>, 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captures</a:t>
            </a:r>
            <a:r>
              <a:rPr lang="it-IT" dirty="0"/>
              <a:t> </a:t>
            </a:r>
            <a:r>
              <a:rPr lang="it-IT" dirty="0" err="1"/>
              <a:t>most</a:t>
            </a:r>
            <a:r>
              <a:rPr lang="it-IT" dirty="0"/>
              <a:t> of the </a:t>
            </a:r>
            <a:r>
              <a:rPr lang="it-IT" dirty="0" err="1"/>
              <a:t>variation</a:t>
            </a:r>
            <a:r>
              <a:rPr lang="it-IT" dirty="0"/>
              <a:t> due to the strong </a:t>
            </a:r>
            <a:r>
              <a:rPr lang="it-IT" dirty="0" err="1"/>
              <a:t>autocorrelation</a:t>
            </a:r>
            <a:r>
              <a:rPr lang="it-IT" dirty="0"/>
              <a:t> in the </a:t>
            </a:r>
            <a:r>
              <a:rPr lang="it-IT" dirty="0" err="1"/>
              <a:t>series</a:t>
            </a:r>
            <a:r>
              <a:rPr lang="it-IT" dirty="0"/>
              <a:t>.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2D06892-4C3E-D715-A46A-BE5F35D2E61C}"/>
              </a:ext>
            </a:extLst>
          </p:cNvPr>
          <p:cNvSpPr txBox="1"/>
          <p:nvPr/>
        </p:nvSpPr>
        <p:spPr>
          <a:xfrm>
            <a:off x="751840" y="3298057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The Mean </a:t>
            </a:r>
            <a:r>
              <a:rPr lang="it-IT" dirty="0" err="1"/>
              <a:t>Squared</a:t>
            </a:r>
            <a:r>
              <a:rPr lang="it-IT" dirty="0"/>
              <a:t> Forecast </a:t>
            </a:r>
            <a:r>
              <a:rPr lang="it-IT" dirty="0" err="1"/>
              <a:t>Errors</a:t>
            </a:r>
            <a:r>
              <a:rPr lang="it-IT" dirty="0"/>
              <a:t> (MSFE) indicate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ARIMA </a:t>
            </a:r>
            <a:r>
              <a:rPr lang="it-IT" dirty="0" err="1"/>
              <a:t>specifications</a:t>
            </a:r>
            <a:r>
              <a:rPr lang="it-IT" dirty="0"/>
              <a:t> </a:t>
            </a:r>
            <a:r>
              <a:rPr lang="it-IT" dirty="0" err="1"/>
              <a:t>perform</a:t>
            </a:r>
            <a:r>
              <a:rPr lang="it-IT" dirty="0"/>
              <a:t> </a:t>
            </a:r>
            <a:r>
              <a:rPr lang="it-IT" dirty="0" err="1"/>
              <a:t>slightly</a:t>
            </a:r>
            <a:r>
              <a:rPr lang="it-IT" dirty="0"/>
              <a:t> </a:t>
            </a:r>
            <a:r>
              <a:rPr lang="it-IT" dirty="0" err="1"/>
              <a:t>better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the Random </a:t>
            </a:r>
            <a:r>
              <a:rPr lang="it-IT" dirty="0" err="1"/>
              <a:t>Walk</a:t>
            </a:r>
            <a:r>
              <a:rPr lang="it-IT" dirty="0"/>
              <a:t>, </a:t>
            </a:r>
            <a:r>
              <a:rPr lang="it-IT" dirty="0" err="1"/>
              <a:t>both</a:t>
            </a:r>
            <a:r>
              <a:rPr lang="it-IT" dirty="0"/>
              <a:t> in log and </a:t>
            </a:r>
            <a:r>
              <a:rPr lang="it-IT" dirty="0" err="1"/>
              <a:t>level</a:t>
            </a:r>
            <a:r>
              <a:rPr lang="it-IT" dirty="0"/>
              <a:t> forecasts. </a:t>
            </a:r>
          </a:p>
          <a:p>
            <a:endParaRPr lang="it-IT" dirty="0"/>
          </a:p>
          <a:p>
            <a:r>
              <a:rPr lang="it-IT" dirty="0"/>
              <a:t>The ARIMA(0,1,1) model </a:t>
            </a:r>
            <a:r>
              <a:rPr lang="it-IT" dirty="0" err="1"/>
              <a:t>provides</a:t>
            </a:r>
            <a:r>
              <a:rPr lang="it-IT" dirty="0"/>
              <a:t> the </a:t>
            </a:r>
            <a:r>
              <a:rPr lang="it-IT" dirty="0" err="1"/>
              <a:t>lowest</a:t>
            </a:r>
            <a:r>
              <a:rPr lang="it-IT" dirty="0"/>
              <a:t> MSFE, </a:t>
            </a:r>
            <a:r>
              <a:rPr lang="it-IT" dirty="0" err="1"/>
              <a:t>but</a:t>
            </a:r>
            <a:r>
              <a:rPr lang="it-IT" dirty="0"/>
              <a:t> the </a:t>
            </a:r>
            <a:r>
              <a:rPr lang="it-IT" dirty="0" err="1"/>
              <a:t>improvement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marginal</a:t>
            </a:r>
            <a:r>
              <a:rPr lang="it-IT" dirty="0"/>
              <a:t>, </a:t>
            </a:r>
            <a:r>
              <a:rPr lang="it-IT" dirty="0" err="1"/>
              <a:t>confirming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the </a:t>
            </a:r>
            <a:r>
              <a:rPr lang="it-IT" dirty="0" err="1"/>
              <a:t>real</a:t>
            </a:r>
            <a:r>
              <a:rPr lang="it-IT" dirty="0"/>
              <a:t> gasoline price </a:t>
            </a:r>
            <a:r>
              <a:rPr lang="it-IT" dirty="0" err="1"/>
              <a:t>behaves</a:t>
            </a:r>
            <a:r>
              <a:rPr lang="it-IT" dirty="0"/>
              <a:t> </a:t>
            </a:r>
            <a:r>
              <a:rPr lang="it-IT" dirty="0" err="1"/>
              <a:t>almost</a:t>
            </a:r>
            <a:r>
              <a:rPr lang="it-IT" dirty="0"/>
              <a:t> like a </a:t>
            </a:r>
            <a:r>
              <a:rPr lang="it-IT" b="1" dirty="0"/>
              <a:t>random </a:t>
            </a:r>
            <a:r>
              <a:rPr lang="it-IT" b="1" dirty="0" err="1"/>
              <a:t>walk</a:t>
            </a:r>
            <a:r>
              <a:rPr lang="it-IT" dirty="0"/>
              <a:t>, and </a:t>
            </a:r>
            <a:r>
              <a:rPr lang="it-IT" dirty="0" err="1"/>
              <a:t>simple</a:t>
            </a:r>
            <a:r>
              <a:rPr lang="it-IT" dirty="0"/>
              <a:t> models </a:t>
            </a:r>
            <a:r>
              <a:rPr lang="it-IT" dirty="0" err="1"/>
              <a:t>already</a:t>
            </a:r>
            <a:r>
              <a:rPr lang="it-IT" dirty="0"/>
              <a:t> </a:t>
            </a:r>
            <a:r>
              <a:rPr lang="it-IT" dirty="0" err="1"/>
              <a:t>achieve</a:t>
            </a:r>
            <a:r>
              <a:rPr lang="it-IT" dirty="0"/>
              <a:t> high </a:t>
            </a:r>
            <a:r>
              <a:rPr lang="it-IT" dirty="0" err="1"/>
              <a:t>predictive</a:t>
            </a:r>
            <a:r>
              <a:rPr lang="it-IT" dirty="0"/>
              <a:t> </a:t>
            </a:r>
            <a:r>
              <a:rPr lang="it-IT" dirty="0" err="1"/>
              <a:t>accuracy</a:t>
            </a:r>
            <a:r>
              <a:rPr lang="it-IT" dirty="0"/>
              <a:t>. 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EEF997D6-5FB8-07AC-B69E-2D5DDF73C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0343" y="2767386"/>
            <a:ext cx="4409817" cy="3059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8601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2883</TotalTime>
  <Words>441</Words>
  <Application>Microsoft Macintosh PowerPoint</Application>
  <PresentationFormat>Widescreen</PresentationFormat>
  <Paragraphs>23</Paragraphs>
  <Slides>7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6" baseType="lpstr">
      <vt:lpstr>Aharoni</vt:lpstr>
      <vt:lpstr>Aptos</vt:lpstr>
      <vt:lpstr>Aptos Black</vt:lpstr>
      <vt:lpstr>Aptos Display</vt:lpstr>
      <vt:lpstr>Aptos ExtraBold</vt:lpstr>
      <vt:lpstr>Arial</vt:lpstr>
      <vt:lpstr>Helvetica</vt:lpstr>
      <vt:lpstr>Symbol</vt:lpstr>
      <vt:lpstr>Tema di Office</vt:lpstr>
      <vt:lpstr>FRANCESCO SEBASTIANO MEMMOLA  50893A</vt:lpstr>
      <vt:lpstr>Real price gasoline</vt:lpstr>
      <vt:lpstr>Presentazione standard di PowerPoint</vt:lpstr>
      <vt:lpstr>Presentazione standard di PowerPoint</vt:lpstr>
      <vt:lpstr>Recursive 1-Step-Ahead Forecasts for log(Real Gasoline Price)  </vt:lpstr>
      <vt:lpstr>Transforming Forecasts to Real Prices (Levels)  </vt:lpstr>
      <vt:lpstr>Mean Squared Forecast Error (MSFE) Evaluation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Francesco Sebastiano Memmola</dc:creator>
  <cp:lastModifiedBy>Francesco Sebastiano Memmola</cp:lastModifiedBy>
  <cp:revision>3</cp:revision>
  <dcterms:created xsi:type="dcterms:W3CDTF">2025-10-07T09:31:31Z</dcterms:created>
  <dcterms:modified xsi:type="dcterms:W3CDTF">2025-10-25T15:34:28Z</dcterms:modified>
</cp:coreProperties>
</file>